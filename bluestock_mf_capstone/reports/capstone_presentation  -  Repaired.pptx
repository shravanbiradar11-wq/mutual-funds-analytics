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09760" y="0"/>
            <a:ext cx="2560320" cy="6858000"/>
          </a:xfrm>
          <a:prstGeom prst="rect">
            <a:avLst/>
          </a:prstGeom>
          <a:solidFill>
            <a:srgbClr val="1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BLUESTOCK</a:t>
            </a:r>
          </a:p>
          <a:p>
            <a:pPr>
              <a:defRPr sz="3100" b="1">
                <a:solidFill>
                  <a:srgbClr val="B1D3FF"/>
                </a:solidFill>
                <a:latin typeface="Aptos Display"/>
              </a:defRPr>
            </a:pPr>
            <a:r>
              <a:t>MUTUAL FUND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6675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Aptos"/>
              </a:defRPr>
            </a:pPr>
            <a:r>
              <a:t>End-to-End Data Engineering • Financial Analytics • Power BI</a:t>
            </a:r>
          </a:p>
          <a:p>
            <a:pPr>
              <a:defRPr sz="1400">
                <a:solidFill>
                  <a:srgbClr val="CDD7E6"/>
                </a:solidFill>
                <a:latin typeface="Aptos"/>
              </a:defRPr>
            </a:pPr>
            <a:r>
              <a:t>Final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54864" cy="960120"/>
          </a:xfrm>
          <a:prstGeom prst="rect">
            <a:avLst/>
          </a:prstGeom>
          <a:solidFill>
            <a:srgbClr val="5F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47091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SCHEMES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010912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57200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4572000"/>
            <a:ext cx="54864" cy="960120"/>
          </a:xfrm>
          <a:prstGeom prst="rect">
            <a:avLst/>
          </a:prstGeom>
          <a:solidFill>
            <a:srgbClr val="2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47091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NAV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5010912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46K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57200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4572000"/>
            <a:ext cx="54864" cy="96012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9472" y="47091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5010912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32.8K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Turn fragmented mutual-fund data into one reliable analytical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521208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73DC"/>
                </a:solidFill>
                <a:latin typeface="Aptos"/>
              </a:defRPr>
            </a:pPr>
            <a:r>
              <a:t>THE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02630"/>
                </a:solidFill>
                <a:latin typeface="Aptos"/>
              </a:defRPr>
            </a:pPr>
            <a:r>
              <a:t>• Which funds deliver stronger returns for the risk taken?</a:t>
            </a:r>
          </a:p>
          <a:p>
            <a:pPr>
              <a:spcAft>
                <a:spcPts val="900"/>
              </a:spcAft>
              <a:defRPr sz="1500">
                <a:solidFill>
                  <a:srgbClr val="202630"/>
                </a:solidFill>
                <a:latin typeface="Aptos"/>
              </a:defRPr>
            </a:pPr>
            <a:r>
              <a:t>• How are SIP, AUM, folio and category flows changing?</a:t>
            </a:r>
          </a:p>
          <a:p>
            <a:pPr>
              <a:spcAft>
                <a:spcPts val="900"/>
              </a:spcAft>
              <a:defRPr sz="1500">
                <a:solidFill>
                  <a:srgbClr val="202630"/>
                </a:solidFill>
                <a:latin typeface="Aptos"/>
              </a:defRPr>
            </a:pPr>
            <a:r>
              <a:t>• How does fund performance compare with market benchmarks?</a:t>
            </a:r>
          </a:p>
          <a:p>
            <a:pPr>
              <a:spcAft>
                <a:spcPts val="900"/>
              </a:spcAft>
              <a:defRPr sz="1500">
                <a:solidFill>
                  <a:srgbClr val="202630"/>
                </a:solidFill>
                <a:latin typeface="Aptos"/>
              </a:defRPr>
            </a:pPr>
            <a:r>
              <a:t>• Can investors compare funds through an interactive dashboard?</a:t>
            </a:r>
          </a:p>
          <a:p>
            <a:pPr>
              <a:spcAft>
                <a:spcPts val="900"/>
              </a:spcAft>
              <a:defRPr sz="1500">
                <a:solidFill>
                  <a:srgbClr val="202630"/>
                </a:solidFill>
                <a:latin typeface="Aptos"/>
              </a:defRPr>
            </a:pPr>
            <a:r>
              <a:t>• Can quantitative metrics support transparent fund ranking?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45920"/>
            <a:ext cx="521208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71907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09B91"/>
                </a:solidFill>
                <a:latin typeface="Aptos"/>
              </a:defRPr>
            </a:pPr>
            <a:r>
              <a:t>WHAT THE PROJECT DELIVERS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4028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02630"/>
                </a:solidFill>
                <a:latin typeface="Aptos"/>
              </a:defRPr>
            </a:pPr>
            <a:r>
              <a:t>• Reusable Python ETL pipeline with validation</a:t>
            </a:r>
          </a:p>
          <a:p>
            <a:pPr>
              <a:spcAft>
                <a:spcPts val="900"/>
              </a:spcAft>
              <a:defRPr sz="1500">
                <a:solidFill>
                  <a:srgbClr val="202630"/>
                </a:solidFill>
                <a:latin typeface="Aptos"/>
              </a:defRPr>
            </a:pPr>
            <a:r>
              <a:t>• SQLite / SQL analytical storage</a:t>
            </a:r>
          </a:p>
          <a:p>
            <a:pPr>
              <a:spcAft>
                <a:spcPts val="900"/>
              </a:spcAft>
              <a:defRPr sz="1500">
                <a:solidFill>
                  <a:srgbClr val="202630"/>
                </a:solidFill>
                <a:latin typeface="Aptos"/>
              </a:defRPr>
            </a:pPr>
            <a:r>
              <a:t>• EDA and financial performance notebooks</a:t>
            </a:r>
          </a:p>
          <a:p>
            <a:pPr>
              <a:spcAft>
                <a:spcPts val="900"/>
              </a:spcAft>
              <a:defRPr sz="1500">
                <a:solidFill>
                  <a:srgbClr val="202630"/>
                </a:solidFill>
                <a:latin typeface="Aptos"/>
              </a:defRPr>
            </a:pPr>
            <a:r>
              <a:t>• Risk-return and benchmark analysis</a:t>
            </a:r>
          </a:p>
          <a:p>
            <a:pPr>
              <a:spcAft>
                <a:spcPts val="900"/>
              </a:spcAft>
              <a:defRPr sz="1500">
                <a:solidFill>
                  <a:srgbClr val="202630"/>
                </a:solidFill>
                <a:latin typeface="Aptos"/>
              </a:defRPr>
            </a:pPr>
            <a:r>
              <a:t>• Four-page Power BI dashboard + drill-through</a:t>
            </a:r>
          </a:p>
          <a:p>
            <a:pPr>
              <a:spcAft>
                <a:spcPts val="900"/>
              </a:spcAft>
              <a:defRPr sz="1500">
                <a:solidFill>
                  <a:srgbClr val="202630"/>
                </a:solidFill>
                <a:latin typeface="Aptos"/>
              </a:defRPr>
            </a:pPr>
            <a:r>
              <a:t>• Rule-based fund recommender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2" y="19664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Solution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rPr dirty="0"/>
              <a:t>A pipeline that moves from raw financial data to decision-ready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75564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" cy="233172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788920"/>
            <a:ext cx="148132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Raw NAV, fund, AUM, SIP,</a:t>
            </a:r>
            <a:br/>
            <a:r>
              <a:t>transaction &amp; benchmark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01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273DC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21992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B30"/>
                </a:solidFill>
                <a:latin typeface="Aptos Display"/>
              </a:defRPr>
            </a:pPr>
            <a:r>
              <a:t>RAW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791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C6675"/>
                </a:solidFill>
                <a:latin typeface="Aptos"/>
              </a:defRPr>
            </a:pPr>
            <a:r>
              <a:t>CSV • MFAPI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0591" y="1828800"/>
            <a:ext cx="175564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50591" y="1828800"/>
            <a:ext cx="54864" cy="2331720"/>
          </a:xfrm>
          <a:prstGeom prst="rect">
            <a:avLst/>
          </a:prstGeom>
          <a:solidFill>
            <a:srgbClr val="2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15184" y="2788920"/>
            <a:ext cx="148132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rPr dirty="0"/>
              <a:t>Cleaning, standardization,</a:t>
            </a:r>
            <a:br>
              <a:rPr dirty="0"/>
            </a:br>
            <a:r>
              <a:rPr dirty="0"/>
              <a:t>date/NAV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7751" y="1874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09B91"/>
                </a:solidFill>
                <a:latin typeface="Aptos Display"/>
              </a:defRPr>
            </a:pPr>
            <a:r>
              <a:rPr dirty="0"/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87751" y="2221992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B30"/>
                </a:solidFill>
                <a:latin typeface="Aptos Display"/>
              </a:defRPr>
            </a:pPr>
            <a:r>
              <a:t>ETL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7751" y="26791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C6675"/>
                </a:solidFill>
                <a:latin typeface="Aptos"/>
              </a:defRPr>
            </a:pPr>
            <a:r>
              <a:rPr dirty="0"/>
              <a:t>Python • Pandas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98264" y="1828800"/>
            <a:ext cx="175564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98264" y="1828800"/>
            <a:ext cx="54864" cy="233172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62855" y="2788920"/>
            <a:ext cx="148132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Relational tables,</a:t>
            </a:r>
            <a:br/>
            <a:r>
              <a:t>queries &amp; structured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1901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2A037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2221992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B30"/>
                </a:solidFill>
                <a:latin typeface="Aptos Display"/>
              </a:defRPr>
            </a:pPr>
            <a:r>
              <a:t>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6791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C6675"/>
                </a:solidFill>
                <a:latin typeface="Aptos"/>
              </a:defRPr>
            </a:pPr>
            <a:r>
              <a:t>SQLite • SQL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45936" y="1828800"/>
            <a:ext cx="175564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45936" y="1828800"/>
            <a:ext cx="54864" cy="233172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7" y="2788920"/>
            <a:ext cx="148132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EDA, CAGR, Sharpe,</a:t>
            </a:r>
            <a:br/>
            <a:r>
              <a:t>Beta, VaR &amp; drawdown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1901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273DC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3096" y="2221992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B30"/>
                </a:solidFill>
                <a:latin typeface="Aptos Display"/>
              </a:defRPr>
            </a:pPr>
            <a:r>
              <a:t>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3096" y="26791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C6675"/>
                </a:solidFill>
                <a:latin typeface="Aptos"/>
              </a:defRPr>
            </a:pPr>
            <a:r>
              <a:t>Jupyter • NumPy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93608" y="1828800"/>
            <a:ext cx="175564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93608" y="1828800"/>
            <a:ext cx="54864" cy="2331720"/>
          </a:xfrm>
          <a:prstGeom prst="rect">
            <a:avLst/>
          </a:prstGeom>
          <a:solidFill>
            <a:srgbClr val="2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58200" y="2788920"/>
            <a:ext cx="148132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Risk-profile scoring</a:t>
            </a:r>
            <a:br/>
            <a:r>
              <a:t>&amp; fund ranking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8" y="1901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09B91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8" y="2221992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B30"/>
                </a:solidFill>
                <a:latin typeface="Aptos Display"/>
              </a:defRPr>
            </a:pPr>
            <a:r>
              <a:t>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8" y="26791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C6675"/>
                </a:solidFill>
                <a:latin typeface="Aptos"/>
              </a:defRPr>
            </a:pPr>
            <a:r>
              <a:t>Recommender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0" y="1828800"/>
            <a:ext cx="175564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241280" y="1828800"/>
            <a:ext cx="54864" cy="233172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405872" y="2788920"/>
            <a:ext cx="148132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Interactive pages,</a:t>
            </a:r>
            <a:br/>
            <a:r>
              <a:t>slicers &amp; drill-through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1901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2A037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78440" y="2221992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B30"/>
                </a:solidFill>
                <a:latin typeface="Aptos Display"/>
              </a:defRPr>
            </a:pPr>
            <a:r>
              <a:t>REPORTING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78440" y="26791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C6675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5840" y="4800600"/>
            <a:ext cx="10058400" cy="54864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hevron 50"/>
          <p:cNvSpPr/>
          <p:nvPr/>
        </p:nvSpPr>
        <p:spPr>
          <a:xfrm>
            <a:off x="2468880" y="4663440"/>
            <a:ext cx="411480" cy="320040"/>
          </a:xfrm>
          <a:prstGeom prst="chevron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hevron 51"/>
          <p:cNvSpPr/>
          <p:nvPr/>
        </p:nvSpPr>
        <p:spPr>
          <a:xfrm>
            <a:off x="4023360" y="4663440"/>
            <a:ext cx="411480" cy="320040"/>
          </a:xfrm>
          <a:prstGeom prst="chevron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hevron 52"/>
          <p:cNvSpPr/>
          <p:nvPr/>
        </p:nvSpPr>
        <p:spPr>
          <a:xfrm>
            <a:off x="5577840" y="4663440"/>
            <a:ext cx="411480" cy="320040"/>
          </a:xfrm>
          <a:prstGeom prst="chevron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hevron 53"/>
          <p:cNvSpPr/>
          <p:nvPr/>
        </p:nvSpPr>
        <p:spPr>
          <a:xfrm>
            <a:off x="7132320" y="4663440"/>
            <a:ext cx="411480" cy="320040"/>
          </a:xfrm>
          <a:prstGeom prst="chevron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Chevron 54"/>
          <p:cNvSpPr/>
          <p:nvPr/>
        </p:nvSpPr>
        <p:spPr>
          <a:xfrm>
            <a:off x="8686800" y="4663440"/>
            <a:ext cx="411480" cy="320040"/>
          </a:xfrm>
          <a:prstGeom prst="chevron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Data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10 complementary datasets create the analytical backbone.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72768"/>
            <a:ext cx="521208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64208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B30"/>
                </a:solidFill>
                <a:latin typeface="Aptos"/>
              </a:defRPr>
            </a:pPr>
            <a:r>
              <a:t>Fund 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66420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273DC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29384"/>
            <a:ext cx="4663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5"/>
                </a:solidFill>
                <a:latin typeface="Aptos"/>
              </a:defRPr>
            </a:pPr>
            <a:r>
              <a:t>Scheme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72768"/>
            <a:ext cx="521208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664208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B30"/>
                </a:solidFill>
                <a:latin typeface="Aptos"/>
              </a:defRPr>
            </a:pPr>
            <a:r>
              <a:t>NAV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6420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273DC"/>
                </a:solidFill>
                <a:latin typeface="Aptos"/>
              </a:defRPr>
            </a:pPr>
            <a:r>
              <a:t>46,000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29384"/>
            <a:ext cx="4663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5"/>
                </a:solidFill>
                <a:latin typeface="Aptos"/>
              </a:defRPr>
            </a:pPr>
            <a:r>
              <a:t>Historical NAV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68880"/>
            <a:ext cx="521208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256032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B30"/>
                </a:solidFill>
                <a:latin typeface="Aptos"/>
              </a:defRPr>
            </a:pPr>
            <a:r>
              <a:t>AUM by Fund 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603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273DC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2825496"/>
            <a:ext cx="4663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5"/>
                </a:solidFill>
                <a:latin typeface="Aptos"/>
              </a:defRPr>
            </a:pPr>
            <a:r>
              <a:t>AUM trend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468880"/>
            <a:ext cx="521208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256032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B30"/>
                </a:solidFill>
                <a:latin typeface="Aptos"/>
              </a:defRPr>
            </a:pPr>
            <a:r>
              <a:t>Monthly SIP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5603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273DC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825496"/>
            <a:ext cx="4663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5"/>
                </a:solidFill>
                <a:latin typeface="Aptos"/>
              </a:defRPr>
            </a:pPr>
            <a:r>
              <a:t>SIP inflows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64991"/>
            <a:ext cx="521208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345643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B30"/>
                </a:solidFill>
                <a:latin typeface="Aptos"/>
              </a:defRPr>
            </a:pPr>
            <a:r>
              <a:t>Category Inflows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45643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273DC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3721607"/>
            <a:ext cx="4663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5"/>
                </a:solidFill>
                <a:latin typeface="Aptos"/>
              </a:defRPr>
            </a:pPr>
            <a:r>
              <a:t>Category flows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364991"/>
            <a:ext cx="521208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2" y="345643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B30"/>
                </a:solidFill>
                <a:latin typeface="Aptos"/>
              </a:defRPr>
            </a:pPr>
            <a:r>
              <a:t>Industry Folios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45643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273DC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3721607"/>
            <a:ext cx="4663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5"/>
                </a:solidFill>
                <a:latin typeface="Aptos"/>
              </a:defRPr>
            </a:pPr>
            <a:r>
              <a:t>Folio trend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261104"/>
            <a:ext cx="521208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1" y="4352544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B30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352544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273DC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4617720"/>
            <a:ext cx="4663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5"/>
                </a:solidFill>
                <a:latin typeface="Aptos"/>
              </a:defRPr>
            </a:pPr>
            <a:r>
              <a:t>Return &amp; risk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261104"/>
            <a:ext cx="521208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28232" y="4352544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B30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352544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273DC"/>
                </a:solidFill>
                <a:latin typeface="Aptos"/>
              </a:defRPr>
            </a:pPr>
            <a:r>
              <a:t>32,778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4617720"/>
            <a:ext cx="4663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5"/>
                </a:solidFill>
                <a:latin typeface="Aptos"/>
              </a:defRPr>
            </a:pPr>
            <a:r>
              <a:t>Investor behaviour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157216"/>
            <a:ext cx="521208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1" y="5248655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B30"/>
                </a:solidFill>
                <a:latin typeface="Aptos"/>
              </a:defRPr>
            </a:pPr>
            <a:r>
              <a:t>Holdings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5248655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273DC"/>
                </a:solidFill>
                <a:latin typeface="Aptos"/>
              </a:defRPr>
            </a:pPr>
            <a:r>
              <a:t>322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1" y="5513831"/>
            <a:ext cx="4663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5"/>
                </a:solidFill>
                <a:latin typeface="Aptos"/>
              </a:defRPr>
            </a:pPr>
            <a:r>
              <a:t>Stock/sector exposure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5157216"/>
            <a:ext cx="521208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28232" y="5248655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B30"/>
                </a:solidFill>
                <a:latin typeface="Aptos"/>
              </a:defRPr>
            </a:pPr>
            <a:r>
              <a:t>Benchmarks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5248655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273DC"/>
                </a:solidFill>
                <a:latin typeface="Aptos"/>
              </a:defRPr>
            </a:pPr>
            <a:r>
              <a:t>8,050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8232" y="5513831"/>
            <a:ext cx="4663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675"/>
                </a:solidFill>
                <a:latin typeface="Aptos"/>
              </a:defRPr>
            </a:pPr>
            <a:r>
              <a:t>Market comparison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ETL Pipeline &amp;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Designed for repeatability, financial-date correctness and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514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54864" cy="329184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96596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6888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Load raw CSVs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Live NAV retrieval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Source-file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828800"/>
            <a:ext cx="2514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1828800"/>
            <a:ext cx="54864" cy="3291840"/>
          </a:xfrm>
          <a:prstGeom prst="rect">
            <a:avLst/>
          </a:prstGeom>
          <a:solidFill>
            <a:srgbClr val="2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75304" y="196596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46888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Standardize columns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Remove duplicates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Convert dates &amp;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828800"/>
            <a:ext cx="2514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7064" y="1828800"/>
            <a:ext cx="54864" cy="329184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1656" y="196596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NAV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46888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Daily calendar reindex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Forward-fill weekends/holidays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Reject non-positive NAV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416" y="1828800"/>
            <a:ext cx="2514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43416" y="1828800"/>
            <a:ext cx="54864" cy="329184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08008" y="196596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46888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Missing columns/values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Infinite numeric checks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AMFI code + date uniqueness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5440680"/>
            <a:ext cx="886968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83080" y="5513832"/>
            <a:ext cx="8641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09B91"/>
                </a:solidFill>
                <a:latin typeface="Aptos"/>
              </a:defRPr>
            </a:pPr>
            <a:r>
              <a:t>KEY ENGINEERING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925312"/>
            <a:ext cx="8503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B30"/>
                </a:solidFill>
                <a:latin typeface="Aptos"/>
              </a:defRPr>
            </a:pPr>
            <a:r>
              <a:t>Project-relative paths via pathlib • no hard-coded machine paths • explicit validation before 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Exploratory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Industry scale and investor-flow trends establish the context before fund-level scoring.</a:t>
            </a:r>
          </a:p>
        </p:txBody>
      </p:sp>
      <p:pic>
        <p:nvPicPr>
          <p:cNvPr id="8" name="Picture 7" descr="page_6.png"/>
          <p:cNvPicPr>
            <a:picLocks noChangeAspect="1"/>
          </p:cNvPicPr>
          <p:nvPr/>
        </p:nvPicPr>
        <p:blipFill>
          <a:blip r:embed="rId2"/>
          <a:srcRect t="3152" b="24910"/>
          <a:stretch>
            <a:fillRect/>
          </a:stretch>
        </p:blipFill>
        <p:spPr>
          <a:xfrm>
            <a:off x="1376517" y="1591056"/>
            <a:ext cx="3932902" cy="4800600"/>
          </a:xfrm>
          <a:prstGeom prst="rect">
            <a:avLst/>
          </a:prstGeom>
        </p:spPr>
      </p:pic>
      <p:pic>
        <p:nvPicPr>
          <p:cNvPr id="9" name="Picture 8" descr="page_7.png"/>
          <p:cNvPicPr>
            <a:picLocks noChangeAspect="1"/>
          </p:cNvPicPr>
          <p:nvPr/>
        </p:nvPicPr>
        <p:blipFill>
          <a:blip r:embed="rId3"/>
          <a:srcRect b="28629"/>
          <a:stretch>
            <a:fillRect/>
          </a:stretch>
        </p:blipFill>
        <p:spPr>
          <a:xfrm>
            <a:off x="5921356" y="1399032"/>
            <a:ext cx="4786979" cy="48737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272784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C6675"/>
                </a:solidFill>
                <a:latin typeface="Aptos"/>
              </a:defRPr>
            </a:pPr>
            <a:r>
              <a:t>AUM + SIP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6272784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C6675"/>
                </a:solidFill>
                <a:latin typeface="Aptos"/>
              </a:defRPr>
            </a:pPr>
            <a:r>
              <a:t>Category inflows + 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Financial Performance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Returns are evaluated alongside risk, not in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666617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54864" cy="105156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70992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1Y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39112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14.38%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60320"/>
            <a:ext cx="2331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66617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3429000" y="1600200"/>
            <a:ext cx="54864" cy="1051560"/>
          </a:xfrm>
          <a:prstGeom prst="rect">
            <a:avLst/>
          </a:prstGeom>
          <a:solidFill>
            <a:srgbClr val="2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173736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3Y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039112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14.09%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560320"/>
            <a:ext cx="2331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7773" y="1649558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1600200"/>
            <a:ext cx="54864" cy="105156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1" y="173736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5Y 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2039112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14.52%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2560320"/>
            <a:ext cx="2331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71431" y="1650492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89719" y="1600200"/>
            <a:ext cx="54864" cy="105156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54311" y="173736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Volatility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1" y="2039112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14.96%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1" y="2560320"/>
            <a:ext cx="2331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Annualized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984311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2926080"/>
            <a:ext cx="54864" cy="105156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06324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rPr dirty="0"/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364992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1.36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886200"/>
            <a:ext cx="2331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3004148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29000" y="2926080"/>
            <a:ext cx="54864" cy="1051560"/>
          </a:xfrm>
          <a:prstGeom prst="rect">
            <a:avLst/>
          </a:prstGeom>
          <a:solidFill>
            <a:srgbClr val="2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93592" y="306324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Beta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1399" y="3364992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0.87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3886200"/>
            <a:ext cx="2331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rPr dirty="0"/>
              <a:t>Average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2991956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59" y="2926080"/>
            <a:ext cx="54864" cy="105156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1" y="306324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Max Drawdown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1" y="3364992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-19.20%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1" y="3886200"/>
            <a:ext cx="2331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71431" y="2987089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Rectangle 43"/>
          <p:cNvSpPr/>
          <p:nvPr/>
        </p:nvSpPr>
        <p:spPr>
          <a:xfrm>
            <a:off x="9189719" y="2926080"/>
            <a:ext cx="54864" cy="105156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54311" y="306324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Risk-free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1" y="3364992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6.5%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54311" y="3886200"/>
            <a:ext cx="2331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Used for Sharpe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4434840"/>
            <a:ext cx="274320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4507992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A037"/>
                </a:solidFill>
                <a:latin typeface="Aptos"/>
              </a:defRPr>
            </a:pPr>
            <a:r>
              <a:t>FORMULA LAYER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4983480"/>
            <a:ext cx="256032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4671" y="509320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Daily Return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1" y="5458968"/>
            <a:ext cx="228600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0F1B30"/>
                </a:solidFill>
                <a:latin typeface="Cambria Math"/>
              </a:defRPr>
            </a:pPr>
            <a:r>
              <a:t>NAVₜ / NAVₜ₋₁ − 1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29000" y="4983480"/>
            <a:ext cx="256032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93592" y="509320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CAGR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3592" y="5458968"/>
            <a:ext cx="228600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0F1B30"/>
                </a:solidFill>
                <a:latin typeface="Cambria Math"/>
              </a:defRPr>
            </a:pPr>
            <a:r>
              <a:t>(End / Start)^(1/n) − 1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4983480"/>
            <a:ext cx="256032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82512" y="509320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Sharpe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2512" y="5458968"/>
            <a:ext cx="228600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0F1B30"/>
                </a:solidFill>
                <a:latin typeface="Cambria Math"/>
              </a:defRPr>
            </a:pPr>
            <a:r>
              <a:t>(Rp − Rf) / σ × √252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06839" y="4983480"/>
            <a:ext cx="256032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71431" y="509320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Beta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71431" y="5458968"/>
            <a:ext cx="228600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0F1B30"/>
                </a:solidFill>
                <a:latin typeface="Cambria Math"/>
              </a:defRPr>
            </a:pPr>
            <a:r>
              <a:t>Cov(Rp,Rm) / Var(Rm)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Risk–Return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The sweet spot is not simply the fund with the tallest return bar.</a:t>
            </a:r>
          </a:p>
        </p:txBody>
      </p:sp>
      <p:pic>
        <p:nvPicPr>
          <p:cNvPr id="8" name="Picture 7" descr="page_9.png"/>
          <p:cNvPicPr>
            <a:picLocks noChangeAspect="1"/>
          </p:cNvPicPr>
          <p:nvPr/>
        </p:nvPicPr>
        <p:blipFill>
          <a:blip r:embed="rId2"/>
          <a:srcRect t="5127" b="53566"/>
          <a:stretch>
            <a:fillRect/>
          </a:stretch>
        </p:blipFill>
        <p:spPr>
          <a:xfrm>
            <a:off x="97468" y="1655064"/>
            <a:ext cx="7028311" cy="41056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645920"/>
            <a:ext cx="4251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1645920"/>
            <a:ext cx="54864" cy="1188720"/>
          </a:xfrm>
          <a:prstGeom prst="rect">
            <a:avLst/>
          </a:prstGeom>
          <a:solidFill>
            <a:srgbClr val="2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79792" y="1783080"/>
            <a:ext cx="3977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HIGHEST 3-YEAR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2084832"/>
            <a:ext cx="3977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23.39%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2606040"/>
            <a:ext cx="3977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SBI Small Cap Fund – Regular Plan – 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063240"/>
            <a:ext cx="4251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0" y="3063240"/>
            <a:ext cx="54864" cy="118872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9792" y="3200400"/>
            <a:ext cx="3977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HIGHEST SHARPE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3502152"/>
            <a:ext cx="3977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7.68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4023360"/>
            <a:ext cx="3977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ICICI Pru Liquid Fund – Regular – Growth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480560"/>
            <a:ext cx="4251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0" y="4480560"/>
            <a:ext cx="54864" cy="118872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79792" y="4617720"/>
            <a:ext cx="3977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HIGHEST ALPHA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4919472"/>
            <a:ext cx="3977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1.98%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5440680"/>
            <a:ext cx="3977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HDFC Short Term Debt Fund – Regular – Growth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Benchmark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Normalize different index levels to a common starting point of 100.</a:t>
            </a:r>
          </a:p>
        </p:txBody>
      </p:sp>
      <p:pic>
        <p:nvPicPr>
          <p:cNvPr id="8" name="Picture 7" descr="page_10.png"/>
          <p:cNvPicPr>
            <a:picLocks noChangeAspect="1"/>
          </p:cNvPicPr>
          <p:nvPr/>
        </p:nvPicPr>
        <p:blipFill>
          <a:blip r:embed="rId2"/>
          <a:srcRect l="2545" t="2540" r="-2545" b="55259"/>
          <a:stretch>
            <a:fillRect/>
          </a:stretch>
        </p:blipFill>
        <p:spPr>
          <a:xfrm>
            <a:off x="853440" y="1554480"/>
            <a:ext cx="7048018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554480"/>
            <a:ext cx="347472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09B91"/>
                </a:solidFill>
                <a:latin typeface="Aptos"/>
              </a:defRPr>
            </a:pPr>
            <a:r>
              <a:t>BENCHMARK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NIFTY 50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NIFTY 100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NIFTY Midcap 150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BSE Smallcap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NIFTY 500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CRISIL Liquid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CRISIL Gilt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800600"/>
            <a:ext cx="347472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487375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A037"/>
                </a:solidFill>
                <a:latin typeface="Aptos"/>
              </a:defRPr>
            </a:pPr>
            <a:r>
              <a:t>WHY NORMALIZE?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5436255"/>
            <a:ext cx="304121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630"/>
                </a:solidFill>
                <a:latin typeface="Aptos"/>
              </a:defRPr>
            </a:pPr>
            <a:r>
              <a:rPr dirty="0"/>
              <a:t>It lets fund NAV growth and benchmark growth be</a:t>
            </a:r>
            <a:endParaRPr lang="en-IN" dirty="0"/>
          </a:p>
          <a:p>
            <a:pPr>
              <a:defRPr sz="1050">
                <a:solidFill>
                  <a:srgbClr val="202630"/>
                </a:solidFill>
                <a:latin typeface="Aptos"/>
              </a:defRPr>
            </a:pPr>
            <a:r>
              <a:rPr dirty="0"/>
              <a:t> compared on the same visual scale.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Four pages turn the analytical layer into an interactive decision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ge_11.png"/>
          <p:cNvPicPr>
            <a:picLocks noChangeAspect="1"/>
          </p:cNvPicPr>
          <p:nvPr/>
        </p:nvPicPr>
        <p:blipFill>
          <a:blip r:embed="rId2"/>
          <a:srcRect t="3621" b="55385"/>
          <a:stretch>
            <a:fillRect/>
          </a:stretch>
        </p:blipFill>
        <p:spPr>
          <a:xfrm>
            <a:off x="1237390" y="1591056"/>
            <a:ext cx="3834580" cy="18630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2735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F1B30"/>
                </a:solidFill>
                <a:latin typeface="Aptos"/>
              </a:defRPr>
            </a:pPr>
            <a:r>
              <a:t>01 • Industry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12.png"/>
          <p:cNvPicPr>
            <a:picLocks noChangeAspect="1"/>
          </p:cNvPicPr>
          <p:nvPr/>
        </p:nvPicPr>
        <p:blipFill>
          <a:blip r:embed="rId3"/>
          <a:srcRect t="2423" b="52159"/>
          <a:stretch>
            <a:fillRect/>
          </a:stretch>
        </p:blipFill>
        <p:spPr>
          <a:xfrm>
            <a:off x="7006220" y="1435608"/>
            <a:ext cx="3864077" cy="2057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5080" y="32735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F1B30"/>
                </a:solidFill>
                <a:latin typeface="Aptos"/>
              </a:defRPr>
            </a:pPr>
            <a:r>
              <a:t>02 • Fund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8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age_13.png"/>
          <p:cNvPicPr>
            <a:picLocks noChangeAspect="1"/>
          </p:cNvPicPr>
          <p:nvPr/>
        </p:nvPicPr>
        <p:blipFill>
          <a:blip r:embed="rId4"/>
          <a:srcRect t="2560" b="53703"/>
          <a:stretch>
            <a:fillRect/>
          </a:stretch>
        </p:blipFill>
        <p:spPr>
          <a:xfrm>
            <a:off x="1474839" y="3840480"/>
            <a:ext cx="3687096" cy="1947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565099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F1B30"/>
                </a:solidFill>
                <a:latin typeface="Aptos"/>
              </a:defRPr>
            </a:pPr>
            <a:r>
              <a:t>03 • SIP &amp; Market 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page_14.png"/>
          <p:cNvPicPr>
            <a:picLocks noChangeAspect="1"/>
          </p:cNvPicPr>
          <p:nvPr/>
        </p:nvPicPr>
        <p:blipFill>
          <a:blip r:embed="rId5"/>
          <a:srcRect b="53703"/>
          <a:stretch>
            <a:fillRect/>
          </a:stretch>
        </p:blipFill>
        <p:spPr>
          <a:xfrm>
            <a:off x="6915519" y="3712464"/>
            <a:ext cx="3801642" cy="21122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55080" y="565099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F1B30"/>
                </a:solidFill>
                <a:latin typeface="Aptos"/>
              </a:defRPr>
            </a:pPr>
            <a:r>
              <a:t>04 • Fund NAV Detail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Dashboard Page 2 • Fund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Interactive filters + risk-return scatter + scorecard + benchmark comparison.</a:t>
            </a:r>
          </a:p>
        </p:txBody>
      </p:sp>
      <p:pic>
        <p:nvPicPr>
          <p:cNvPr id="8" name="Picture 7" descr="page_12.png"/>
          <p:cNvPicPr>
            <a:picLocks noChangeAspect="1"/>
          </p:cNvPicPr>
          <p:nvPr/>
        </p:nvPicPr>
        <p:blipFill>
          <a:blip r:embed="rId2"/>
          <a:srcRect t="4224" b="54771"/>
          <a:stretch>
            <a:fillRect/>
          </a:stretch>
        </p:blipFill>
        <p:spPr>
          <a:xfrm>
            <a:off x="624840" y="1783080"/>
            <a:ext cx="7426857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554480"/>
            <a:ext cx="315468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62763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73DC"/>
                </a:solidFill>
                <a:latin typeface="Aptos"/>
              </a:defRPr>
            </a:pPr>
            <a:r>
              <a:t>INTERACTIVE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1031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Fund house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Category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Plan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Scheme 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977639"/>
            <a:ext cx="315468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4050791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09B91"/>
                </a:solidFill>
                <a:latin typeface="Aptos"/>
              </a:defRPr>
            </a:pPr>
            <a:r>
              <a:t>ANALYTICAL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5262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02630"/>
                </a:solidFill>
                <a:latin typeface="Aptos"/>
              </a:defRPr>
            </a:pPr>
            <a:r>
              <a:t>• 3-year return vs risk</a:t>
            </a:r>
          </a:p>
          <a:p>
            <a:pPr>
              <a:spcAft>
                <a:spcPts val="900"/>
              </a:spcAft>
              <a:defRPr sz="1200">
                <a:solidFill>
                  <a:srgbClr val="202630"/>
                </a:solidFill>
                <a:latin typeface="Aptos"/>
              </a:defRPr>
            </a:pPr>
            <a:r>
              <a:t>• Fund scorecard</a:t>
            </a:r>
          </a:p>
          <a:p>
            <a:pPr>
              <a:spcAft>
                <a:spcPts val="900"/>
              </a:spcAft>
              <a:defRPr sz="1200">
                <a:solidFill>
                  <a:srgbClr val="202630"/>
                </a:solidFill>
                <a:latin typeface="Aptos"/>
              </a:defRPr>
            </a:pPr>
            <a:r>
              <a:t>• Normalized NAV vs NIFTY 50 / 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Dashboard Page 3 • SIP &amp; Market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A monthly heatmap and market overlay reveal flow patterns at a glance.</a:t>
            </a:r>
          </a:p>
        </p:txBody>
      </p:sp>
      <p:pic>
        <p:nvPicPr>
          <p:cNvPr id="8" name="Picture 7" descr="page_13.png"/>
          <p:cNvPicPr>
            <a:picLocks noChangeAspect="1"/>
          </p:cNvPicPr>
          <p:nvPr/>
        </p:nvPicPr>
        <p:blipFill>
          <a:blip r:embed="rId2"/>
          <a:srcRect t="3637" b="54659"/>
          <a:stretch>
            <a:fillRect/>
          </a:stretch>
        </p:blipFill>
        <p:spPr>
          <a:xfrm>
            <a:off x="734568" y="1706602"/>
            <a:ext cx="7482938" cy="44132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60020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0" y="1600200"/>
            <a:ext cx="54864" cy="1143000"/>
          </a:xfrm>
          <a:prstGeom prst="rect">
            <a:avLst/>
          </a:prstGeom>
          <a:solidFill>
            <a:srgbClr val="2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77072" y="1737360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LATEST SIP INFLOW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039112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₹31,002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560320"/>
            <a:ext cx="288036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Latest observation in supplied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97180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2971800"/>
            <a:ext cx="54864" cy="114300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77072" y="3108960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TOP CATEGORY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3410712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Liquid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3931920"/>
            <a:ext cx="288036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Highest cumulative net inflow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34340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80" y="4343400"/>
            <a:ext cx="54864" cy="114300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77072" y="4480560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MARKET OVERLAY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4782312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t>NIFTY 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5303520"/>
            <a:ext cx="288036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Compared alongside SIP inflow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Dashboard Page 4 • Fund NAV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Drill-through converts a portfolio-level dashboard into a single-fund investigation workspace.</a:t>
            </a:r>
          </a:p>
        </p:txBody>
      </p:sp>
      <p:pic>
        <p:nvPicPr>
          <p:cNvPr id="8" name="Picture 7" descr="page_14.png"/>
          <p:cNvPicPr>
            <a:picLocks noChangeAspect="1"/>
          </p:cNvPicPr>
          <p:nvPr/>
        </p:nvPicPr>
        <p:blipFill>
          <a:blip r:embed="rId2"/>
          <a:srcRect t="4144" b="57018"/>
          <a:stretch>
            <a:fillRect/>
          </a:stretch>
        </p:blipFill>
        <p:spPr>
          <a:xfrm>
            <a:off x="502920" y="1600200"/>
            <a:ext cx="7443573" cy="40882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554480"/>
            <a:ext cx="306324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162763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73DC"/>
                </a:solidFill>
                <a:latin typeface="Aptos"/>
              </a:defRPr>
            </a:pPr>
            <a:r>
              <a:t>SELECTED FUND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B30"/>
                </a:solidFill>
                <a:latin typeface="Aptos Display"/>
              </a:defRPr>
            </a:pPr>
            <a:r>
              <a:t>DSP Small Cap Fund</a:t>
            </a:r>
            <a:br/>
            <a:r>
              <a:t>Regular –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06324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Latest NAV: 336.69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1Y Return: 20.20%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3Y Return: 20.08%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Maximum Drawdown: -17.01%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Sharpe Ratio: 0.80</a:t>
            </a:r>
          </a:p>
          <a:p>
            <a:pPr>
              <a:spcAft>
                <a:spcPts val="900"/>
              </a:spcAft>
              <a:defRPr sz="1150">
                <a:solidFill>
                  <a:srgbClr val="202630"/>
                </a:solidFill>
                <a:latin typeface="Aptos"/>
              </a:defRPr>
            </a:pPr>
            <a:r>
              <a:t>• NAV history + benchmark 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Advanced Analytics • Fund Recommender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A transparent scoring system rather than a black-box recommendation.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4864" cy="123444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73736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CONSERVATIVE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560320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Sharpe • Volatility • Drawdown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600200"/>
            <a:ext cx="54864" cy="1234440"/>
          </a:xfrm>
          <a:prstGeom prst="rect">
            <a:avLst/>
          </a:prstGeom>
          <a:solidFill>
            <a:srgbClr val="2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73736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60320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Balanced return + risk-adjusted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6002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59" y="1600200"/>
            <a:ext cx="54864" cy="123444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1" y="173736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AGGRESSIVE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2560320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Return • Market exposure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283464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319272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73DC"/>
                </a:solidFill>
                <a:latin typeface="Aptos"/>
              </a:defRPr>
            </a:pPr>
            <a:r>
              <a:t>SCORING DIMENSIONS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49039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3-year return / CAGR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Sharpe Ratio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Annualized volatility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Maximum drawdown</a:t>
            </a:r>
          </a:p>
          <a:p>
            <a:pPr>
              <a:spcAft>
                <a:spcPts val="900"/>
              </a:spcAft>
              <a:defRPr sz="1300">
                <a:solidFill>
                  <a:srgbClr val="202630"/>
                </a:solidFill>
                <a:latin typeface="Aptos"/>
              </a:defRPr>
            </a:pPr>
            <a:r>
              <a:t>• Beta proximity to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246120"/>
            <a:ext cx="210312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319272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09B9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794760"/>
            <a:ext cx="4983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3794760"/>
            <a:ext cx="54864" cy="1600200"/>
          </a:xfrm>
          <a:prstGeom prst="rect">
            <a:avLst/>
          </a:prstGeom>
          <a:solidFill>
            <a:srgbClr val="2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3931920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RANKED FUND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4754880"/>
            <a:ext cx="4709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C6675"/>
                </a:solidFill>
                <a:latin typeface="Aptos"/>
              </a:defRPr>
            </a:pPr>
            <a:r>
              <a:t>Strong Buy • Buy • Hold • Watch • Avoid</a:t>
            </a:r>
            <a:br/>
            <a:br/>
            <a:r>
              <a:t>Designed for analytical comparison, not personalized investment advice.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What the data says after the pipeline, analytics and dashboard layers are connected.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675"/>
                </a:solidFill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0116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5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B30"/>
                </a:solidFill>
                <a:latin typeface="Aptos Display"/>
              </a:defRPr>
            </a:pPr>
            <a:r>
              <a:t>Deliverables &amp; Completion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5"/>
                </a:solidFill>
                <a:latin typeface="Aptos"/>
              </a:defRPr>
            </a:pPr>
            <a:r>
              <a:t>The presentation maps directly to the seven graded project deliverables.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C6675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3258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C6675"/>
                </a:solidFill>
                <a:latin typeface="Aptos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258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C6675"/>
                </a:solidFill>
                <a:latin typeface="Aptos"/>
              </a:defRPr>
            </a:pPr>
            <a:r>
              <a:t>PROJECT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3258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C6675"/>
                </a:solidFill>
                <a:latin typeface="Aptos"/>
              </a:defRPr>
            </a:pPr>
            <a:r>
              <a:t>WEIGHT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664208"/>
            <a:ext cx="749808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664208"/>
            <a:ext cx="54864" cy="41148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1801368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D1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916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B30"/>
                </a:solidFill>
                <a:latin typeface="Aptos"/>
              </a:defRPr>
            </a:pPr>
            <a:r>
              <a:t>ETL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69164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675"/>
                </a:solidFill>
                <a:latin typeface="Aptos"/>
              </a:defRPr>
            </a:pPr>
            <a:r>
              <a:t>Python ingestion, transformation &amp;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1691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273DC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231136"/>
            <a:ext cx="749808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231136"/>
            <a:ext cx="54864" cy="41148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368296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D2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2585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B30"/>
                </a:solidFill>
                <a:latin typeface="Aptos"/>
              </a:defRPr>
            </a:pPr>
            <a:r>
              <a:t>SQLite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25856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675"/>
                </a:solidFill>
                <a:latin typeface="Aptos"/>
              </a:defRPr>
            </a:pPr>
            <a:r>
              <a:t>Relational storage &amp; SQL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2585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273DC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798064"/>
            <a:ext cx="749808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2798064"/>
            <a:ext cx="54864" cy="41148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2935224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D3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8254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B30"/>
                </a:solidFill>
                <a:latin typeface="Aptos"/>
              </a:defRPr>
            </a:pPr>
            <a:r>
              <a:t>EDA Notebook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825496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675"/>
                </a:solidFill>
                <a:latin typeface="Aptos"/>
              </a:defRPr>
            </a:pPr>
            <a:r>
              <a:t>Exploration, charts &amp; documented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825496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273DC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364991"/>
            <a:ext cx="749808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3364991"/>
            <a:ext cx="54864" cy="41148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3502151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D4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392423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B30"/>
                </a:solidFill>
                <a:latin typeface="Aptos"/>
              </a:defRPr>
            </a:pPr>
            <a:r>
              <a:t>Performance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392423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675"/>
                </a:solidFill>
                <a:latin typeface="Aptos"/>
              </a:defRPr>
            </a:pPr>
            <a:r>
              <a:t>CAGR, Sharpe, Beta, VaR &amp;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392423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273DC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931920"/>
            <a:ext cx="749808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4360" y="3931920"/>
            <a:ext cx="54864" cy="41148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8952" y="4069080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D5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395935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B30"/>
                </a:solidFill>
                <a:latin typeface="Aptos"/>
              </a:defRPr>
            </a:pPr>
            <a:r>
              <a:t>Interactive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3959352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675"/>
                </a:solidFill>
                <a:latin typeface="Aptos"/>
              </a:defRPr>
            </a:pPr>
            <a:r>
              <a:t>4 Power BI pages + drill-through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39593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273DC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498848"/>
            <a:ext cx="749808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4360" y="4498848"/>
            <a:ext cx="54864" cy="41148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8952" y="4636008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D6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5262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B30"/>
                </a:solidFill>
                <a:latin typeface="Aptos"/>
              </a:defRPr>
            </a:pPr>
            <a:r>
              <a:t>Advanced Analytics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52628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675"/>
                </a:solidFill>
                <a:latin typeface="Aptos"/>
              </a:defRPr>
            </a:pPr>
            <a:r>
              <a:t>Fund recommendation scoring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45262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273DC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065776"/>
            <a:ext cx="749808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4360" y="5065776"/>
            <a:ext cx="54864" cy="41148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8952" y="5202936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D7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0200" y="509320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B30"/>
                </a:solidFill>
                <a:latin typeface="Aptos"/>
              </a:defRPr>
            </a:pPr>
            <a:r>
              <a:t>Final Report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509320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675"/>
                </a:solidFill>
                <a:latin typeface="Aptos"/>
              </a:defRPr>
            </a:pPr>
            <a:r>
              <a:t>Professional documentation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12680" y="509320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273DC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989320"/>
            <a:ext cx="2560320" cy="438912"/>
          </a:xfrm>
          <a:prstGeom prst="round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7240" y="606247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A037"/>
                </a:solidFill>
                <a:latin typeface="Aptos"/>
              </a:defRPr>
            </a:pPr>
            <a:r>
              <a:t>FUTURE / BONUS SCOPE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7560" y="6016752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675"/>
                </a:solidFill>
                <a:latin typeface="Aptos"/>
              </a:defRPr>
            </a:pPr>
            <a:r>
              <a:t>Scheduled ETL • Streamlit • Monte Carlo • Markowitz Efficient Frontier • Automated email report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675"/>
                </a:solidFill>
                <a:latin typeface="Aptos"/>
              </a:defRPr>
            </a:pPr>
            <a:r>
              <a:t>Bluestock Mutual Fund Analytics • Final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761" y="1430248"/>
            <a:ext cx="11632475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DE1FF"/>
                </a:solidFill>
                <a:latin typeface="Aptos Display"/>
              </a:defRPr>
            </a:pPr>
            <a:r>
              <a:rPr sz="2400" dirty="0"/>
              <a:t>Bluestock Mutual Fund Analytics connects raw financial data with quantitative analysis and interactive business reporting.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The final solution brings together data engineering, SQL, financial statistics, benchmark analysis and Power BI into one coherent analytical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519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4251960"/>
            <a:ext cx="54864" cy="1051560"/>
          </a:xfrm>
          <a:prstGeom prst="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3891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690872"/>
            <a:ext cx="187910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rPr sz="1400" dirty="0"/>
              <a:t>46K NAV 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42519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39" y="4251960"/>
            <a:ext cx="54864" cy="1051560"/>
          </a:xfrm>
          <a:prstGeom prst="rect">
            <a:avLst/>
          </a:prstGeom>
          <a:solidFill>
            <a:srgbClr val="2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85031" y="43891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4690872"/>
            <a:ext cx="21229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rPr sz="1400" dirty="0"/>
              <a:t>7 core risk/return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42519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59" y="4251960"/>
            <a:ext cx="54864" cy="105156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1" y="43891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4690872"/>
            <a:ext cx="16123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rPr sz="1400" dirty="0"/>
              <a:t>4 interactive pages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2519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8280" y="4251960"/>
            <a:ext cx="54864" cy="1051560"/>
          </a:xfrm>
          <a:prstGeom prst="rect">
            <a:avLst/>
          </a:prstGeom>
          <a:solidFill>
            <a:srgbClr val="5F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62872" y="43891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675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4690872"/>
            <a:ext cx="2190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B30"/>
                </a:solidFill>
                <a:latin typeface="Aptos Display"/>
              </a:defRPr>
            </a:pPr>
            <a:r>
              <a:rPr sz="1400" dirty="0"/>
              <a:t>Risk-profile recommender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1243</Words>
  <Application>Microsoft Office PowerPoint</Application>
  <PresentationFormat>Widescreen</PresentationFormat>
  <Paragraphs>315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 biradar</dc:creator>
  <cp:keywords/>
  <dc:description>generated using python-pptx</dc:description>
  <cp:lastModifiedBy>Shravan biradar</cp:lastModifiedBy>
  <cp:revision>3</cp:revision>
  <dcterms:created xsi:type="dcterms:W3CDTF">2013-01-27T09:14:16Z</dcterms:created>
  <dcterms:modified xsi:type="dcterms:W3CDTF">2026-08-11T17:44:04Z</dcterms:modified>
  <cp:category/>
</cp:coreProperties>
</file>